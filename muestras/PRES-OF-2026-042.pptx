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llux-or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695" y="0"/>
            <a:ext cx="6858000" cy="6858000"/>
          </a:xfrm>
          <a:prstGeom prst="rect">
            <a:avLst/>
          </a:prstGeom>
        </p:spPr>
      </p:pic>
      <p:pic>
        <p:nvPicPr>
          <p:cNvPr id="4" name="Picture 3" descr="pollu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2920"/>
            <a:ext cx="914400" cy="6291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659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spc="260">
                <a:solidFill>
                  <a:srgbClr val="F07A1F"/>
                </a:solidFill>
                <a:latin typeface="Inter SemiBold"/>
              </a:rPr>
              <a:t>PROPUESTA 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4480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FFFF"/>
                </a:solidFill>
                <a:latin typeface="Manrope ExtraBold"/>
              </a:rPr>
              <a:t>Migración de cargas de trabajo a Oracle Cloud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9204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8D4E6"/>
                </a:solidFill>
                <a:latin typeface="Inter SemiBold"/>
              </a:rPr>
              <a:t>Preparada para Importadora Andes Cía. Ltda.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8B97A8"/>
                </a:solidFill>
                <a:latin typeface="Inter"/>
              </a:rPr>
              <a:t>María Fernández — Gerente de TI · 7 de septiembre de 2026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8B97A8"/>
                </a:solidFill>
                <a:latin typeface="Inter"/>
              </a:rPr>
              <a:t>Ref OF-2026-042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9775" y="10972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07A1F"/>
                </a:solidFill>
                <a:latin typeface="Inter SemiBold"/>
              </a:rPr>
              <a:t>MUESTRA · DATOS FICTICIOS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07A1F"/>
                </a:solidFill>
                <a:latin typeface="Manrope ExtraBold"/>
              </a:rPr>
              <a:t>01  —  </a:t>
            </a:r>
            <a:r>
              <a:rPr sz="2400">
                <a:solidFill>
                  <a:srgbClr val="06111F"/>
                </a:solidFill>
                <a:latin typeface="Manrope ExtraBold"/>
              </a:rPr>
              <a:t>RESUMEN EJECUTIVO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685800" cy="41148"/>
          </a:xfrm>
          <a:prstGeom prst="rect">
            <a:avLst/>
          </a:prstGeom>
          <a:solidFill>
            <a:srgbClr val="F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1800" b="1">
                <a:solidFill>
                  <a:srgbClr val="F07A1F"/>
                </a:solidFill>
                <a:latin typeface="Inter SemiBold"/>
              </a:rPr>
              <a:t>—  </a:t>
            </a:r>
            <a:r>
              <a:rPr sz="1800">
                <a:solidFill>
                  <a:srgbClr val="5B6573"/>
                </a:solidFill>
                <a:latin typeface="Inter"/>
              </a:rPr>
              <a:t>Sus sistemas críticos operan hoy en servidores on-premise con más de seis años y riesgo creciente de caída.</a:t>
            </a:r>
          </a:p>
          <a:p>
            <a:pPr>
              <a:spcAft>
                <a:spcPts val="2200"/>
              </a:spcAft>
            </a:pPr>
            <a:r>
              <a:rPr sz="1800" b="1">
                <a:solidFill>
                  <a:srgbClr val="F07A1F"/>
                </a:solidFill>
                <a:latin typeface="Inter SemiBold"/>
              </a:rPr>
              <a:t>—  </a:t>
            </a:r>
            <a:r>
              <a:rPr sz="1800">
                <a:solidFill>
                  <a:srgbClr val="5B6573"/>
                </a:solidFill>
                <a:latin typeface="Inter"/>
              </a:rPr>
              <a:t>Migramos tres cargas a OCI en tres fases, con corte controlado y rollback definido.</a:t>
            </a:r>
          </a:p>
          <a:p>
            <a:pPr>
              <a:spcAft>
                <a:spcPts val="2200"/>
              </a:spcAft>
            </a:pPr>
            <a:r>
              <a:rPr sz="1800" b="1">
                <a:solidFill>
                  <a:srgbClr val="F07A1F"/>
                </a:solidFill>
                <a:latin typeface="Inter SemiBold"/>
              </a:rPr>
              <a:t>—  </a:t>
            </a:r>
            <a:r>
              <a:rPr sz="1800">
                <a:solidFill>
                  <a:srgbClr val="5B6573"/>
                </a:solidFill>
                <a:latin typeface="Inter"/>
              </a:rPr>
              <a:t>Al terminar: alta disponibilidad, respaldos automáticos y equipo capacitado.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A9B0BD"/>
                </a:solidFill>
                <a:latin typeface="Inter"/>
              </a:rPr>
              <a:t>PolluxData · Ref OF-2026-042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5455" y="6419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850" b="0">
                <a:solidFill>
                  <a:srgbClr val="A9B0BD"/>
                </a:solidFill>
                <a:latin typeface="Inter"/>
              </a:rPr>
              <a:t>polluxdata.com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9775" y="10972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07A1F"/>
                </a:solidFill>
                <a:latin typeface="Inter SemiBold"/>
              </a:rPr>
              <a:t>MUESTRA · DATOS FICTICIOS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07A1F"/>
                </a:solidFill>
                <a:latin typeface="Manrope ExtraBold"/>
              </a:rPr>
              <a:t>02  —  </a:t>
            </a:r>
            <a:r>
              <a:rPr sz="2400">
                <a:solidFill>
                  <a:srgbClr val="06111F"/>
                </a:solidFill>
                <a:latin typeface="Manrope ExtraBold"/>
              </a:rPr>
              <a:t>CONTEXTO Y OBJETIVO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685800" cy="41148"/>
          </a:xfrm>
          <a:prstGeom prst="rect">
            <a:avLst/>
          </a:prstGeom>
          <a:solidFill>
            <a:srgbClr val="F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573"/>
                </a:solidFill>
                <a:latin typeface="Inter"/>
              </a:rPr>
              <a:t>La operación depende de hardware envejecido y respaldos manuales. El crecimiento del catálogo online exige una plataforma elástica, segura y monitoreada.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1005840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F07A1F"/>
                </a:solidFill>
                <a:latin typeface="Inter SemiBold"/>
              </a:rPr>
              <a:t>—  </a:t>
            </a:r>
            <a:r>
              <a:rPr sz="1500">
                <a:solidFill>
                  <a:srgbClr val="5B6573"/>
                </a:solidFill>
                <a:latin typeface="Inter"/>
              </a:rPr>
              <a:t>Reducir el riesgo de caídas del ERP y de la tienda online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07A1F"/>
                </a:solidFill>
                <a:latin typeface="Inter SemiBold"/>
              </a:rPr>
              <a:t>—  </a:t>
            </a:r>
            <a:r>
              <a:rPr sz="1500">
                <a:solidFill>
                  <a:srgbClr val="5B6573"/>
                </a:solidFill>
                <a:latin typeface="Inter"/>
              </a:rPr>
              <a:t>Migrar tres cargas críticas a OCI sin pérdida de datos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07A1F"/>
                </a:solidFill>
                <a:latin typeface="Inter SemiBold"/>
              </a:rPr>
              <a:t>—  </a:t>
            </a:r>
            <a:r>
              <a:rPr sz="1500">
                <a:solidFill>
                  <a:srgbClr val="5B6573"/>
                </a:solidFill>
                <a:latin typeface="Inter"/>
              </a:rPr>
              <a:t>Habilitar respaldos automáticos y monitoreo continuo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07A1F"/>
                </a:solidFill>
                <a:latin typeface="Inter SemiBold"/>
              </a:rPr>
              <a:t>—  </a:t>
            </a:r>
            <a:r>
              <a:rPr sz="1500">
                <a:solidFill>
                  <a:srgbClr val="5B6573"/>
                </a:solidFill>
                <a:latin typeface="Inter"/>
              </a:rPr>
              <a:t>Capacitar al equipo interno para la operación diaria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A9B0BD"/>
                </a:solidFill>
                <a:latin typeface="Inter"/>
              </a:rPr>
              <a:t>PolluxData · Ref OF-2026-042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419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850" b="0">
                <a:solidFill>
                  <a:srgbClr val="A9B0BD"/>
                </a:solidFill>
                <a:latin typeface="Inter"/>
              </a:rPr>
              <a:t>polluxdata.com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9775" y="10972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07A1F"/>
                </a:solidFill>
                <a:latin typeface="Inter SemiBold"/>
              </a:rPr>
              <a:t>MUESTRA · DATOS FICTICIOS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07A1F"/>
                </a:solidFill>
                <a:latin typeface="Manrope ExtraBold"/>
              </a:rPr>
              <a:t>03  —  </a:t>
            </a:r>
            <a:r>
              <a:rPr sz="2400">
                <a:solidFill>
                  <a:srgbClr val="06111F"/>
                </a:solidFill>
                <a:latin typeface="Manrope ExtraBold"/>
              </a:rPr>
              <a:t>ALCANCE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685800" cy="41148"/>
          </a:xfrm>
          <a:prstGeom prst="rect">
            <a:avLst/>
          </a:prstGeom>
          <a:solidFill>
            <a:srgbClr val="F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6111F"/>
                </a:solidFill>
                <a:latin typeface="Manrope Bold"/>
              </a:rPr>
              <a:t>Incluye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 b="1">
                <a:solidFill>
                  <a:srgbClr val="F07A1F"/>
                </a:solidFill>
                <a:latin typeface="Inter SemiBold"/>
              </a:rPr>
              <a:t>—  </a:t>
            </a:r>
            <a:r>
              <a:rPr sz="1250">
                <a:solidFill>
                  <a:srgbClr val="5B6573"/>
                </a:solidFill>
                <a:latin typeface="Inter"/>
              </a:rPr>
              <a:t>Assessment técnico y plan de migración detallado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07A1F"/>
                </a:solidFill>
                <a:latin typeface="Inter SemiBold"/>
              </a:rPr>
              <a:t>—  </a:t>
            </a:r>
            <a:r>
              <a:rPr sz="1250">
                <a:solidFill>
                  <a:srgbClr val="5B6573"/>
                </a:solidFill>
                <a:latin typeface="Inter"/>
              </a:rPr>
              <a:t>Migración de 3 cargas: ERP, tienda online y reporting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07A1F"/>
                </a:solidFill>
                <a:latin typeface="Inter SemiBold"/>
              </a:rPr>
              <a:t>—  </a:t>
            </a:r>
            <a:r>
              <a:rPr sz="1250">
                <a:solidFill>
                  <a:srgbClr val="5B6573"/>
                </a:solidFill>
                <a:latin typeface="Inter"/>
              </a:rPr>
              <a:t>Alta disponibilidad en la región seleccionada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07A1F"/>
                </a:solidFill>
                <a:latin typeface="Inter SemiBold"/>
              </a:rPr>
              <a:t>—  </a:t>
            </a:r>
            <a:r>
              <a:rPr sz="1250">
                <a:solidFill>
                  <a:srgbClr val="5B6573"/>
                </a:solidFill>
                <a:latin typeface="Inter"/>
              </a:rPr>
              <a:t>Respaldos automatizados y monitoreo básico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07A1F"/>
                </a:solidFill>
                <a:latin typeface="Inter SemiBold"/>
              </a:rPr>
              <a:t>—  </a:t>
            </a:r>
            <a:r>
              <a:rPr sz="1250">
                <a:solidFill>
                  <a:srgbClr val="5B6573"/>
                </a:solidFill>
                <a:latin typeface="Inter"/>
              </a:rPr>
              <a:t>Transferencia de conocimiento al equipo de 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6792" y="1463040"/>
            <a:ext cx="5120640" cy="4480560"/>
          </a:xfrm>
          <a:prstGeom prst="round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6831" y="1783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6111F"/>
                </a:solidFill>
                <a:latin typeface="Manrope Bold"/>
              </a:rPr>
              <a:t>No incluye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1" y="22860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 b="1">
                <a:solidFill>
                  <a:srgbClr val="F07A1F"/>
                </a:solidFill>
                <a:latin typeface="Inter SemiBold"/>
              </a:rPr>
              <a:t>—  </a:t>
            </a:r>
            <a:r>
              <a:rPr sz="1250">
                <a:solidFill>
                  <a:srgbClr val="5B6573"/>
                </a:solidFill>
                <a:latin typeface="Inter"/>
              </a:rPr>
              <a:t>Refactorización de aplicaciones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07A1F"/>
                </a:solidFill>
                <a:latin typeface="Inter SemiBold"/>
              </a:rPr>
              <a:t>—  </a:t>
            </a:r>
            <a:r>
              <a:rPr sz="1250">
                <a:solidFill>
                  <a:srgbClr val="5B6573"/>
                </a:solidFill>
                <a:latin typeface="Inter"/>
              </a:rPr>
              <a:t>Licenciamiento de software de terceros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07A1F"/>
                </a:solidFill>
                <a:latin typeface="Inter SemiBold"/>
              </a:rPr>
              <a:t>—  </a:t>
            </a:r>
            <a:r>
              <a:rPr sz="1250">
                <a:solidFill>
                  <a:srgbClr val="5B6573"/>
                </a:solidFill>
                <a:latin typeface="Inter"/>
              </a:rPr>
              <a:t>Soporte gestionado 24/7 (plan aparte)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07A1F"/>
                </a:solidFill>
                <a:latin typeface="Inter SemiBold"/>
              </a:rPr>
              <a:t>—  </a:t>
            </a:r>
            <a:r>
              <a:rPr sz="1250">
                <a:solidFill>
                  <a:srgbClr val="5B6573"/>
                </a:solidFill>
                <a:latin typeface="Inter"/>
              </a:rPr>
              <a:t>Datos históricos de archivo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A9B0BD"/>
                </a:solidFill>
                <a:latin typeface="Inter"/>
              </a:rPr>
              <a:t>PolluxData · Ref OF-2026-042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5455" y="6419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850" b="0">
                <a:solidFill>
                  <a:srgbClr val="A9B0BD"/>
                </a:solidFill>
                <a:latin typeface="Inter"/>
              </a:rPr>
              <a:t>polluxdata.com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9775" y="10972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07A1F"/>
                </a:solidFill>
                <a:latin typeface="Inter SemiBold"/>
              </a:rPr>
              <a:t>MUESTRA · DATOS FICTICIOS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07A1F"/>
                </a:solidFill>
                <a:latin typeface="Manrope ExtraBold"/>
              </a:rPr>
              <a:t>04  —  </a:t>
            </a:r>
            <a:r>
              <a:rPr sz="2400">
                <a:solidFill>
                  <a:srgbClr val="06111F"/>
                </a:solidFill>
                <a:latin typeface="Manrope ExtraBold"/>
              </a:rPr>
              <a:t>PLAN DE TRABAJO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685800" cy="41148"/>
          </a:xfrm>
          <a:prstGeom prst="rect">
            <a:avLst/>
          </a:prstGeom>
          <a:solidFill>
            <a:srgbClr val="F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725912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"/>
                <a:gridCol w="6885432"/>
                <a:gridCol w="27432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anrope Bold"/>
                        </a:rPr>
                        <a:t>Fase</a:t>
                      </a:r>
                    </a:p>
                  </a:txBody>
                  <a:tcPr anchor="ctr" marL="91440" marR="91440" marT="36576" marB="36576">
                    <a:solidFill>
                      <a:srgbClr val="0611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anrope Bold"/>
                        </a:rPr>
                        <a:t>Entregable</a:t>
                      </a:r>
                    </a:p>
                  </a:txBody>
                  <a:tcPr anchor="ctr" marL="91440" marR="91440" marT="36576" marB="36576">
                    <a:solidFill>
                      <a:srgbClr val="0611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Manrope Bold"/>
                        </a:rPr>
                        <a:t>Duración</a:t>
                      </a:r>
                    </a:p>
                  </a:txBody>
                  <a:tcPr anchor="ctr" marL="91440" marR="91440" marT="36576" marB="36576">
                    <a:solidFill>
                      <a:srgbClr val="06111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6111F"/>
                          </a:solidFill>
                          <a:latin typeface="Inter SemiBold"/>
                        </a:rPr>
                        <a:t>Fase 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Assessment e informe técnico + plan de corte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2 semanas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6111F"/>
                          </a:solidFill>
                          <a:latin typeface="Inter SemiBold"/>
                        </a:rPr>
                        <a:t>Fase 2</a:t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Tienda online operando en OCI (piloto)</a:t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3 semanas</a:t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6111F"/>
                          </a:solidFill>
                          <a:latin typeface="Inter SemiBold"/>
                        </a:rPr>
                        <a:t>Fase 3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ERP y reporting en producción + handover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4 semanas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4805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A9B0BD"/>
                </a:solidFill>
                <a:latin typeface="Inter"/>
              </a:rPr>
              <a:t>Cada fase se cierra con aceptación escrita antes de continuar.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A9B0BD"/>
                </a:solidFill>
                <a:latin typeface="Inter"/>
              </a:rPr>
              <a:t>PolluxData · Ref OF-2026-042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419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850" b="0">
                <a:solidFill>
                  <a:srgbClr val="A9B0BD"/>
                </a:solidFill>
                <a:latin typeface="Inter"/>
              </a:rPr>
              <a:t>polluxdata.com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9775" y="10972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07A1F"/>
                </a:solidFill>
                <a:latin typeface="Inter SemiBold"/>
              </a:rPr>
              <a:t>MUESTRA · DATOS FICTICIOS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07A1F"/>
                </a:solidFill>
                <a:latin typeface="Manrope ExtraBold"/>
              </a:rPr>
              <a:t>05  —  </a:t>
            </a:r>
            <a:r>
              <a:rPr sz="2400">
                <a:solidFill>
                  <a:srgbClr val="06111F"/>
                </a:solidFill>
                <a:latin typeface="Manrope ExtraBold"/>
              </a:rPr>
              <a:t>INVERSIÓN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685800" cy="41148"/>
          </a:xfrm>
          <a:prstGeom prst="rect">
            <a:avLst/>
          </a:prstGeom>
          <a:solidFill>
            <a:srgbClr val="F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725912" cy="3520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/>
                <a:gridCol w="4553712"/>
                <a:gridCol w="1371600"/>
                <a:gridCol w="822960"/>
                <a:gridCol w="1737360"/>
                <a:gridCol w="1737360"/>
              </a:tblGrid>
              <a:tr h="5867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anrope Bold"/>
                        </a:rPr>
                        <a:t>#</a:t>
                      </a:r>
                    </a:p>
                  </a:txBody>
                  <a:tcPr anchor="ctr" marL="91440" marR="91440" marT="36576" marB="36576">
                    <a:solidFill>
                      <a:srgbClr val="0611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anrope Bold"/>
                        </a:rPr>
                        <a:t>Concepto</a:t>
                      </a:r>
                    </a:p>
                  </a:txBody>
                  <a:tcPr anchor="ctr" marL="91440" marR="91440" marT="36576" marB="36576">
                    <a:solidFill>
                      <a:srgbClr val="0611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anrope Bold"/>
                        </a:rPr>
                        <a:t>Unidad</a:t>
                      </a:r>
                    </a:p>
                  </a:txBody>
                  <a:tcPr anchor="ctr" marL="91440" marR="91440" marT="36576" marB="36576">
                    <a:solidFill>
                      <a:srgbClr val="0611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FFFFFF"/>
                          </a:solidFill>
                          <a:latin typeface="Manrope Bold"/>
                        </a:rPr>
                        <a:t>Cant.</a:t>
                      </a:r>
                    </a:p>
                  </a:txBody>
                  <a:tcPr anchor="ctr" marL="91440" marR="91440" marT="36576" marB="36576">
                    <a:solidFill>
                      <a:srgbClr val="0611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FFFFFF"/>
                          </a:solidFill>
                          <a:latin typeface="Manrope Bold"/>
                        </a:rPr>
                        <a:t>P. unit. (USD)</a:t>
                      </a:r>
                    </a:p>
                  </a:txBody>
                  <a:tcPr anchor="ctr" marL="91440" marR="91440" marT="36576" marB="36576">
                    <a:solidFill>
                      <a:srgbClr val="0611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FFFFFF"/>
                          </a:solidFill>
                          <a:latin typeface="Manrope Bold"/>
                        </a:rPr>
                        <a:t>Total (USD)</a:t>
                      </a:r>
                    </a:p>
                  </a:txBody>
                  <a:tcPr anchor="ctr" marL="91440" marR="91440" marT="36576" marB="36576">
                    <a:solidFill>
                      <a:srgbClr val="06111F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Assessment técnico y plan de migración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servicio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2.500,00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2.500,00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Migración de cargas de trabajo a OCI</a:t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workload</a:t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3.200,00</a:t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9.600,00</a:t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Configuración de alta disponibilidad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servicio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1.800,00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1.800,00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Transferencia de conocimiento</a:t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sesión</a:t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350,00</a:t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>700,00</a:t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/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/>
                      </a:r>
                      <a:r>
                        <a:rPr sz="1350" b="0">
                          <a:solidFill>
                            <a:srgbClr val="F07A1F"/>
                          </a:solidFill>
                          <a:latin typeface="Manrope ExtraBold"/>
                        </a:rPr>
                        <a:t>TOTAL (IVA incluido)</a:t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/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/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/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5B6573"/>
                          </a:solidFill>
                          <a:latin typeface="Inter"/>
                        </a:rPr>
                        <a:t/>
                      </a:r>
                      <a:r>
                        <a:rPr sz="1350" b="0">
                          <a:solidFill>
                            <a:srgbClr val="F07A1F"/>
                          </a:solidFill>
                          <a:latin typeface="Manrope ExtraBold"/>
                        </a:rPr>
                        <a:t>16.790,00</a:t>
                      </a:r>
                    </a:p>
                  </a:txBody>
                  <a:tcPr anchor="ctr" marL="91440" marR="91440" marT="36576" marB="36576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1206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B6573"/>
                </a:solidFill>
                <a:latin typeface="Inter"/>
              </a:rPr>
              <a:t>50% a la firma de la orden de trabajo, 50% a la aceptación del go-live.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A9B0BD"/>
                </a:solidFill>
                <a:latin typeface="Inter"/>
              </a:rPr>
              <a:t>PolluxData · Ref OF-2026-042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419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850" b="0">
                <a:solidFill>
                  <a:srgbClr val="A9B0BD"/>
                </a:solidFill>
                <a:latin typeface="Inter"/>
              </a:rPr>
              <a:t>polluxdata.com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9775" y="10972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07A1F"/>
                </a:solidFill>
                <a:latin typeface="Inter SemiBold"/>
              </a:rPr>
              <a:t>MUESTRA · DATOS FICTICIOS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07A1F"/>
                </a:solidFill>
                <a:latin typeface="Manrope ExtraBold"/>
              </a:rPr>
              <a:t>06  —  </a:t>
            </a:r>
            <a:r>
              <a:rPr sz="2400">
                <a:solidFill>
                  <a:srgbClr val="06111F"/>
                </a:solidFill>
                <a:latin typeface="Manrope ExtraBold"/>
              </a:rPr>
              <a:t>POR QUÉ POLLUXDATA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685800" cy="41148"/>
          </a:xfrm>
          <a:prstGeom prst="rect">
            <a:avLst/>
          </a:prstGeom>
          <a:solidFill>
            <a:srgbClr val="F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3108960"/>
          </a:xfrm>
          <a:prstGeom prst="round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7A1F"/>
                </a:solidFill>
                <a:latin typeface="Manrope Extra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8892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6111F"/>
                </a:solidFill>
                <a:latin typeface="Inter SemiBold"/>
              </a:rPr>
              <a:t>Equipo certificado multi-nube: OCI · AWS · Azure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7" y="1828800"/>
            <a:ext cx="3383280" cy="3108960"/>
          </a:xfrm>
          <a:prstGeom prst="round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7" y="2148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7A1F"/>
                </a:solidFill>
                <a:latin typeface="Manrope ExtraBol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7" y="278892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6111F"/>
                </a:solidFill>
                <a:latin typeface="Inter SemiBold"/>
              </a:rPr>
              <a:t>Migraciones con corte controlado y rollback definido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28800"/>
            <a:ext cx="3383280" cy="3108960"/>
          </a:xfrm>
          <a:prstGeom prst="round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6" y="2148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7A1F"/>
                </a:solidFill>
                <a:latin typeface="Manrope ExtraBold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278892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6111F"/>
                </a:solidFill>
                <a:latin typeface="Inter SemiBold"/>
              </a:rPr>
              <a:t>Soporte cercano: hablamos contigo, no con tickets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A9B0BD"/>
                </a:solidFill>
                <a:latin typeface="Inter"/>
              </a:rPr>
              <a:t>PolluxData · Ref OF-2026-042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5455" y="6419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850" b="0">
                <a:solidFill>
                  <a:srgbClr val="A9B0BD"/>
                </a:solidFill>
                <a:latin typeface="Inter"/>
              </a:rPr>
              <a:t>polluxdata.com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9775" y="10972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07A1F"/>
                </a:solidFill>
                <a:latin typeface="Inter SemiBold"/>
              </a:rPr>
              <a:t>MUESTRA · DATOS FICTICIOS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llu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914400" cy="6291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9202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spc="260">
                <a:solidFill>
                  <a:srgbClr val="F07A1F"/>
                </a:solidFill>
                <a:latin typeface="Inter SemiBold"/>
              </a:rPr>
              <a:t>SIGUIENTES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FFFFFF"/>
                </a:solidFill>
                <a:latin typeface="Manrope ExtraBold"/>
              </a:rPr>
              <a:t>¿Arrancamos?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6858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F07A1F"/>
                </a:solidFill>
                <a:latin typeface="Manrope ExtraBold"/>
              </a:rPr>
              <a:t>01  </a:t>
            </a:r>
            <a:r>
              <a:rPr sz="1600">
                <a:solidFill>
                  <a:srgbClr val="C8D4E6"/>
                </a:solidFill>
                <a:latin typeface="Inter"/>
              </a:rPr>
              <a:t>Firma de la orden de trabajo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07A1F"/>
                </a:solidFill>
                <a:latin typeface="Manrope ExtraBold"/>
              </a:rPr>
              <a:t>02  </a:t>
            </a:r>
            <a:r>
              <a:rPr sz="1600">
                <a:solidFill>
                  <a:srgbClr val="C8D4E6"/>
                </a:solidFill>
                <a:latin typeface="Inter"/>
              </a:rPr>
              <a:t>Kickoff y assessment (semana 1)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07A1F"/>
                </a:solidFill>
                <a:latin typeface="Manrope ExtraBold"/>
              </a:rPr>
              <a:t>03  </a:t>
            </a:r>
            <a:r>
              <a:rPr sz="1600">
                <a:solidFill>
                  <a:srgbClr val="C8D4E6"/>
                </a:solidFill>
                <a:latin typeface="Inter"/>
              </a:rPr>
              <a:t>Primera carga en OCI en 5 semanas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45720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Inter SemiBold"/>
              </a:rPr>
              <a:t>Fernando Andrade</a:t>
            </a:r>
          </a:p>
          <a:p>
            <a:pPr algn="r">
              <a:spcAft>
                <a:spcPts val="600"/>
              </a:spcAft>
            </a:pPr>
            <a:r>
              <a:rPr sz="1300" b="0">
                <a:solidFill>
                  <a:srgbClr val="F07A1F"/>
                </a:solidFill>
                <a:latin typeface="Inter SemiBold"/>
              </a:rPr>
              <a:t>info@polluxdata.com</a:t>
            </a:r>
          </a:p>
          <a:p>
            <a:pPr algn="r">
              <a:spcAft>
                <a:spcPts val="600"/>
              </a:spcAft>
            </a:pPr>
            <a:r>
              <a:rPr sz="1100" b="0">
                <a:solidFill>
                  <a:srgbClr val="8B97A8"/>
                </a:solidFill>
                <a:latin typeface="Inter"/>
              </a:rPr>
              <a:t>polluxdata.com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9775" y="10972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07A1F"/>
                </a:solidFill>
                <a:latin typeface="Inter SemiBold"/>
              </a:rPr>
              <a:t>MUESTRA · DATOS FICTICIOS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